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4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16952" y="-2286000"/>
            <a:ext cx="9144000" cy="9144000"/>
          </a:xfrm>
          <a:prstGeom prst="ellipse">
            <a:avLst/>
          </a:prstGeom>
          <a:noFill/>
          <a:ln w="9525">
            <a:solidFill>
              <a:srgbClr val="1E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14232" y="-1737360"/>
            <a:ext cx="6949440" cy="6949440"/>
          </a:xfrm>
          <a:prstGeom prst="ellipse">
            <a:avLst/>
          </a:prstGeom>
          <a:noFill/>
          <a:ln w="9525">
            <a:solidFill>
              <a:srgbClr val="1E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94392" y="-1097280"/>
            <a:ext cx="4389120" cy="4389120"/>
          </a:xfrm>
          <a:prstGeom prst="ellipse">
            <a:avLst/>
          </a:prstGeom>
          <a:noFill/>
          <a:ln w="9525">
            <a:solidFill>
              <a:srgbClr val="1E2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INCISIV RESEARCH  •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Poppins"/>
              </a:rPr>
              <a:t>Agentic AI
in Retail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BBD8"/>
                </a:solidFill>
                <a:latin typeface="Libre Franklin"/>
              </a:rPr>
              <a:t>How autonomous AI agents are reshaping retail operations,
customer experience, and competitive strategy.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1280160" cy="3175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Libre Franklin"/>
              </a:rPr>
              <a:t>Incisiv Intelligence Platform  |  incisiv.io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1.0  SETTING THE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What Is Agentic AI?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4864" cy="128016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11111"/>
                </a:solidFill>
                <a:latin typeface="Libre Franklin"/>
              </a:rPr>
              <a:t>"Agentic AI systems are autonomous software agents that perceive their environment, reason over goals, plan multi-step actions, and execute tasks — with minimal human intervention."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3832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3291840" cy="164592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6758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31C4E"/>
                </a:solidFill>
                <a:latin typeface="Poppins"/>
              </a:rPr>
              <a:t>Perceive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251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ibre Franklin"/>
              </a:rPr>
              <a:t>Ingest real-time data from POS, inventory, CRM, web, and IoT sensors.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33832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3383280"/>
            <a:ext cx="3291840" cy="16459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6758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B2D8B"/>
                </a:solidFill>
                <a:latin typeface="Poppins"/>
              </a:rPr>
              <a:t>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ibre Franklin"/>
              </a:rPr>
              <a:t>Use LLMs and planning algorithms to break goals into actionable 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6" y="3383280"/>
            <a:ext cx="32918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3383280"/>
            <a:ext cx="3291840" cy="164592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6758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9628"/>
                </a:solidFill>
                <a:latin typeface="Poppins"/>
              </a:rP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2519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  <a:latin typeface="Libre Franklin"/>
              </a:rPr>
              <a:t>Execute decisions — place orders, adjust prices, respond to customers.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2.0  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Why Retail? Why Now?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51760" cy="164592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9628"/>
                </a:solidFill>
                <a:latin typeface="Poppins"/>
              </a:rPr>
              <a:t>$9.2T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D8"/>
                </a:solidFill>
                <a:latin typeface="Libre Franklin"/>
              </a:rPr>
              <a:t>Global retail market size in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1737360"/>
            <a:ext cx="2651760" cy="164592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2464" y="19019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9628"/>
                </a:solidFill>
                <a:latin typeface="Poppins"/>
              </a:rP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2464" y="26060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D8"/>
                </a:solidFill>
                <a:latin typeface="Libre Franklin"/>
              </a:rPr>
              <a:t>of retailers cite operational complexity as their top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19088" y="1737360"/>
            <a:ext cx="2651760" cy="164592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019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9628"/>
                </a:solidFill>
                <a:latin typeface="Poppins"/>
              </a:rPr>
              <a:t>3.4×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6060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D8"/>
                </a:solidFill>
                <a:latin typeface="Libre Franklin"/>
              </a:rPr>
              <a:t>productivity lift reported by early agentic-AI adopters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08592" y="1737360"/>
            <a:ext cx="2651760" cy="164592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1472" y="1901952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A9628"/>
                </a:solidFill>
                <a:latin typeface="Poppins"/>
              </a:rPr>
              <a:t>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260604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BD8"/>
                </a:solidFill>
                <a:latin typeface="Libre Franklin"/>
              </a:rPr>
              <a:t>Year most large retailers plan to deploy autonomous agents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Libre Franklin"/>
              </a:rPr>
              <a:t>Retail is uniquely positioned to benefit from agentic AI: high transaction volumes, rich real-time data streams, razor-thin margins, and rapidly shifting consumer expectations create the perfect conditions for autonomous agents to generate measurable ROI.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11"/>
                </a:solidFill>
                <a:latin typeface="Poppins"/>
              </a:rPr>
              <a:t>Pressures Accelerating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20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00">
                <a:solidFill>
                  <a:srgbClr val="555555"/>
                </a:solidFill>
                <a:latin typeface="Libre Franklin"/>
              </a:rPr>
              <a:t>— Labour cost inflation and talent scarcity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555555"/>
                </a:solidFill>
                <a:latin typeface="Libre Franklin"/>
              </a:rPr>
              <a:t>— Consumer expectations for hyper-personalisation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555555"/>
                </a:solidFill>
                <a:latin typeface="Libre Franklin"/>
              </a:rPr>
              <a:t>— Supply chain volatility requiring real-time response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555555"/>
                </a:solidFill>
                <a:latin typeface="Libre Franklin"/>
              </a:rPr>
              <a:t>— Competitive pressure from digitally-native disruptors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303520" cy="1828800"/>
          </a:xfrm>
          <a:prstGeom prst="rect">
            <a:avLst/>
          </a:prstGeom>
          <a:solidFill>
            <a:srgbClr val="14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8463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BD8"/>
                </a:solidFill>
                <a:latin typeface="Libre Franklin"/>
              </a:rPr>
              <a:t>Retail AI Adoption is accelerating
across all formats and segments.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3.0 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Where Agents Are Deployed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20440" cy="12801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31C4E"/>
                </a:solidFill>
                <a:latin typeface="Poppins"/>
              </a:rPr>
              <a:t>Inventory &amp; Replenishment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8716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Autonomous demand forecasting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Auto-triggered purchase orders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Out-of-stock prevention loops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6552" y="173736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6552" y="1737360"/>
            <a:ext cx="3520440" cy="128016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38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D8B"/>
                </a:solidFill>
                <a:latin typeface="Poppins"/>
              </a:rPr>
              <a:t>Dynamic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8716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Real-time competitor price monitoring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Margin-aware markdown agents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Promotion yield optimisation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73736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737360"/>
            <a:ext cx="3520440" cy="128016"/>
          </a:xfrm>
          <a:prstGeom prst="rect">
            <a:avLst/>
          </a:prstGeom>
          <a:solidFill>
            <a:srgbClr val="14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385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314D"/>
                </a:solidFill>
                <a:latin typeface="Poppins"/>
              </a:rPr>
              <a:t>Customer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487168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Personalised product recommendations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Autonomous chat &amp; voice agents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Post-purchase resolution bots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51376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51376"/>
            <a:ext cx="3520440" cy="128016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B5A"/>
                </a:solidFill>
                <a:latin typeface="Poppins"/>
              </a:rPr>
              <a:t>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90118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Supplier risk monitoring agents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Logistics rerouting on disruption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Shipment ETA communication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6552" y="4151376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6552" y="4151376"/>
            <a:ext cx="3520440" cy="128016"/>
          </a:xfrm>
          <a:prstGeom prst="rect">
            <a:avLst/>
          </a:prstGeom>
          <a:solidFill>
            <a:srgbClr val="7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A4400"/>
                </a:solidFill>
                <a:latin typeface="Poppins"/>
              </a:rPr>
              <a:t>Store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90118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Automated shelf-audit via vision AI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Staff scheduling optimisation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Energy &amp; shrinkage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3024" y="4151376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4151376"/>
            <a:ext cx="3520440" cy="128016"/>
          </a:xfrm>
          <a:prstGeom prst="rect">
            <a:avLst/>
          </a:prstGeom>
          <a:solidFill>
            <a:srgbClr val="5C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352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1A6E"/>
                </a:solidFill>
                <a:latin typeface="Poppins"/>
              </a:rPr>
              <a:t>Marketing &amp;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4901184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Autonomous content generation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Multi-channel campaign orchestration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55555"/>
                </a:solidFill>
                <a:latin typeface="Libre Franklin"/>
              </a:rPr>
              <a:t>— Real-time spend reallocation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4.0  MATURITY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Agentic AI Adoption Maturity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636318" cy="164592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4534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99"/>
                </a:solidFill>
                <a:latin typeface="Poppins"/>
              </a:rPr>
              <a:t>Stage 1
Assist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14534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99999"/>
                </a:solidFill>
                <a:latin typeface="Poppins"/>
              </a:rPr>
              <a:t>15%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276398" y="1920240"/>
            <a:ext cx="4145340" cy="164592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3558" y="2121408"/>
            <a:ext cx="39624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31C4E"/>
                </a:solidFill>
                <a:latin typeface="Poppins"/>
              </a:rPr>
              <a:t>Stage 2
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3558" y="2834640"/>
            <a:ext cx="39624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31C4E"/>
                </a:solidFill>
                <a:latin typeface="Poppins"/>
              </a:rPr>
              <a:t>38%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1738" y="1920240"/>
            <a:ext cx="3490813" cy="164592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8898" y="2121408"/>
            <a:ext cx="3307933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Stage 3
Orchestrate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8898" y="2834640"/>
            <a:ext cx="330793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32%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12551" y="1920240"/>
            <a:ext cx="1636318" cy="164592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49711" y="2121408"/>
            <a:ext cx="145343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Poppins"/>
              </a:rPr>
              <a:t>Stage 4
Autonomous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49711" y="2834640"/>
            <a:ext cx="145343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Poppins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Libre Franklin"/>
              </a:rPr>
              <a:t>% of retailers at each stage (Incisiv survey, 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4991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AI surfaces recommendations;
human approves every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67838" y="4114800"/>
            <a:ext cx="40081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Routine tasks run autonomously;
exceptions escalated to humans.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3178" y="4114800"/>
            <a:ext cx="335365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Agent networks collaborate;
human oversight at goal level.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3991" y="4114800"/>
            <a:ext cx="149915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End-to-end agentic workflows;
human sets objectives only.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349240"/>
            <a:ext cx="10908792" cy="109728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6811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re Franklin"/>
              </a:rPr>
              <a:t>Key Insight:  Over half of retailers (53%) remain in assist/automate stages — signalling a significant window for orchestration-layer solutions and advisory.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5.0  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Measurable Benefits for Retailers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383280" cy="201168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↓ 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Inventory carrying
costs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828800"/>
            <a:ext cx="3383280" cy="201168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↑ 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Conversion rate via
personalisation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828800"/>
            <a:ext cx="3383280" cy="2011680"/>
          </a:xfrm>
          <a:prstGeom prst="rect">
            <a:avLst/>
          </a:prstGeom>
          <a:solidFill>
            <a:srgbClr val="14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0116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↓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34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Customer service
resolution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96512"/>
            <a:ext cx="3383280" cy="2011680"/>
          </a:xfrm>
          <a:prstGeom prst="rect">
            <a:avLst/>
          </a:prstGeom>
          <a:solidFill>
            <a:srgbClr val="1A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7939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↑ 12%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Gross margin via
dynamic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4096512"/>
            <a:ext cx="3383280" cy="2011680"/>
          </a:xfrm>
          <a:prstGeom prst="rect">
            <a:avLst/>
          </a:prstGeom>
          <a:solidFill>
            <a:srgbClr val="7A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27939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↑ 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102352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Supply chain
responsiveness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4096512"/>
            <a:ext cx="3383280" cy="2011680"/>
          </a:xfrm>
          <a:prstGeom prst="rect">
            <a:avLst/>
          </a:prstGeom>
          <a:solidFill>
            <a:srgbClr val="5C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279392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A9628"/>
                </a:solidFill>
                <a:latin typeface="Poppins"/>
              </a:rPr>
              <a:t>↓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5102352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BD8"/>
                </a:solidFill>
                <a:latin typeface="Libre Franklin"/>
              </a:rPr>
              <a:t>Labour hours on
routine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  <a:latin typeface="Libre Franklin"/>
              </a:rPr>
              <a:t>Sources: Incisiv Agentic AI in Retail Benchmark Study, 2025. N=320 retailers.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6.0 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Key Challenges &amp; Considerations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120640" cy="41148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91640"/>
            <a:ext cx="5394960" cy="41148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Poppins"/>
              </a:rPr>
              <a:t>Mitigations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94560"/>
            <a:ext cx="5120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49424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1C4E"/>
                </a:solidFill>
                <a:latin typeface="Poppins"/>
              </a:rPr>
              <a:t>Data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420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Siloed, inconsistent data limits agent accuracy and trust.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94560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4942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400"/>
                </a:solidFill>
                <a:latin typeface="Poppins"/>
              </a:rPr>
              <a:t>Invest in a Unified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420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Retail data mesh or lakehouse as the agent's ground truth.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44368"/>
            <a:ext cx="5120640" cy="749808"/>
          </a:xfrm>
          <a:prstGeom prst="rect">
            <a:avLst/>
          </a:prstGeom>
          <a:solidFill>
            <a:srgbClr val="F7F7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9923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1C4E"/>
                </a:solidFill>
                <a:latin typeface="Poppins"/>
              </a:rPr>
              <a:t>Governance &amp;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291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Autonomous actions require clear guardrails, audit trails, and rollback.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44368"/>
            <a:ext cx="5394960" cy="749808"/>
          </a:xfrm>
          <a:prstGeom prst="rect">
            <a:avLst/>
          </a:prstGeom>
          <a:solidFill>
            <a:srgbClr val="F7F7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992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400"/>
                </a:solidFill>
                <a:latin typeface="Poppins"/>
              </a:rPr>
              <a:t>Define Agent Operating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Human-in-the-loop thresholds and audit logging from day 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94176"/>
            <a:ext cx="5120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1C4E"/>
                </a:solidFill>
                <a:latin typeface="Poppins"/>
              </a:rPr>
              <a:t>Integration Complexity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Legacy systems rarely expose the APIs agents need to act.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94176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7490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400"/>
                </a:solidFill>
                <a:latin typeface="Poppins"/>
              </a:rPr>
              <a:t>API-First Modernisation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041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Prioritise integration middleware before scaling agents.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443984"/>
            <a:ext cx="5120640" cy="749808"/>
          </a:xfrm>
          <a:prstGeom prst="rect">
            <a:avLst/>
          </a:prstGeom>
          <a:solidFill>
            <a:srgbClr val="F7F7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49884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1C4E"/>
                </a:solidFill>
                <a:latin typeface="Poppins"/>
              </a:rPr>
              <a:t>Change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79145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Workforce adoption and trust-building is as critical as the technology.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43984"/>
            <a:ext cx="5394960" cy="749808"/>
          </a:xfrm>
          <a:prstGeom prst="rect">
            <a:avLst/>
          </a:prstGeom>
          <a:solidFill>
            <a:srgbClr val="F7F7F5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4988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400"/>
                </a:solidFill>
                <a:latin typeface="Poppins"/>
              </a:rPr>
              <a:t>Upskilling &amp; Co-pilot Phasing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7914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Start with assist-mode agents; build confidence gradually.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93792"/>
            <a:ext cx="5120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24865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31C4E"/>
                </a:solidFill>
                <a:latin typeface="Poppins"/>
              </a:rPr>
              <a:t>Hallucination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4126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LLM-powered agents can make plausible but incorrect decisions.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193792"/>
            <a:ext cx="53949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2486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4400"/>
                </a:solidFill>
                <a:latin typeface="Poppins"/>
              </a:rPr>
              <a:t>Grounding &amp; Retrieval Augmentation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5412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  <a:latin typeface="Libre Franklin"/>
              </a:rPr>
              <a:t>RAG + structured data constraints to reduce hallucination.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A9628"/>
                </a:solidFill>
                <a:latin typeface="Poppins"/>
              </a:rPr>
              <a:t>7.0  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Poppins"/>
              </a:rPr>
              <a:t>The Road Ahead for Retail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474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74720" cy="201168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A9628"/>
                </a:solidFill>
                <a:latin typeface="Poppins"/>
              </a:rPr>
              <a:t>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Poppins"/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27248"/>
            <a:ext cx="731520" cy="254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Agent-assist tools widely deployed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Inventory &amp; pricing agents in production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Pilot programmes for customer-facing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1828800"/>
            <a:ext cx="3474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828800"/>
            <a:ext cx="3474720" cy="201168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12140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31C4E"/>
                </a:solidFill>
                <a:latin typeface="Poppins"/>
              </a:rPr>
              <a:t>2026–27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Poppins"/>
              </a:rPr>
              <a:t>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8" y="3127248"/>
            <a:ext cx="731520" cy="2540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338328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Multi-agent frameworks in supply chain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Personalisation agents at customer scale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Retail-specific LLMs fine-tuned on private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828800"/>
            <a:ext cx="34747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66176" y="1828800"/>
            <a:ext cx="3474720" cy="2011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212140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B2D8B"/>
                </a:solidFill>
                <a:latin typeface="Poppins"/>
              </a:rPr>
              <a:t>2028+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697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Poppins"/>
              </a:rPr>
              <a:t>Autonomous Retail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94776" y="3127248"/>
            <a:ext cx="731520" cy="254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94776" y="3383280"/>
            <a:ext cx="31089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End-to-end autonomous store operations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Agent-to-agent B2B commerce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555555"/>
                </a:solidFill>
                <a:latin typeface="Libre Franklin"/>
              </a:rPr>
              <a:t>— Self-optimising retail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Libre Franklin"/>
              </a:rPr>
              <a:t>Incisiv • Confidential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1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91840"/>
            <a:ext cx="1463040" cy="31750"/>
          </a:xfrm>
          <a:prstGeom prst="rect">
            <a:avLst/>
          </a:prstGeom>
          <a:solidFill>
            <a:srgbClr val="FA9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BD8"/>
                </a:solidFill>
                <a:latin typeface="Libre Franklin"/>
              </a:rPr>
              <a:t>To learn more about Incisiv's Agentic AI in Retail research,
advisory services, and peer benchmarking programmes, contact us 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9628"/>
                </a:solidFill>
                <a:latin typeface="Poppins"/>
              </a:rPr>
              <a:t>research@incisiv.io  |  incisiv.io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999"/>
                </a:solidFill>
                <a:latin typeface="Libre Franklin"/>
              </a:rPr>
              <a:t>© 2026 Incisiv.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